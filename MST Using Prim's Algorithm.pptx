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Noto Sans TC" panose="020B0604020202020204" charset="-128"/>
      <p:regular r:id="rId13"/>
    </p:embeddedFont>
    <p:embeddedFont>
      <p:font typeface="Noto Sans TC Medium" panose="020B0604020202020204" charset="-128"/>
      <p:regular r:id="rId14"/>
    </p:embeddedFont>
    <p:embeddedFont>
      <p:font typeface="Noto Sans TC SemiBold" panose="020B0604020202020204" charset="-128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33169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42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38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142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0555" y="3213735"/>
            <a:ext cx="8756431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48" dirty="0">
                <a:solidFill>
                  <a:srgbClr val="FFFFFF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GRAPH ALGORITHMS · A VISUAL 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90555" y="3497206"/>
            <a:ext cx="8146846" cy="910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6400" kern="100" spc="-64" dirty="0">
                <a:solidFill>
                  <a:srgbClr val="FFFFFF"/>
                </a:solidFill>
                <a:latin typeface="Chiron Hei HK SemiBold" pitchFamily="34" charset="0"/>
                <a:ea typeface="Chiron Hei HK SemiBold" pitchFamily="34" charset="-122"/>
                <a:cs typeface="Chiron Hei HK SemiBold" pitchFamily="34" charset="-120"/>
              </a:rPr>
              <a:t>Prim’s Algorithm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790555" y="4578707"/>
            <a:ext cx="8146846" cy="345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000" kern="100" spc="-50" dirty="0">
                <a:solidFill>
                  <a:srgbClr val="FFFFFF"/>
                </a:solidFill>
                <a:latin typeface="Chiron Hei HK Medium" pitchFamily="34" charset="0"/>
                <a:ea typeface="Chiron Hei HK Medium" pitchFamily="34" charset="-122"/>
                <a:cs typeface="Chiron Hei HK Medium" pitchFamily="34" charset="-120"/>
              </a:rPr>
              <a:t>building the cheapest connected network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90555" y="5194498"/>
            <a:ext cx="2688364" cy="31651"/>
          </a:xfrm>
          <a:prstGeom prst="roundRect">
            <a:avLst>
              <a:gd name="adj" fmla="val 49998"/>
            </a:avLst>
          </a:prstGeom>
          <a:solidFill>
            <a:srgbClr val="34607C"/>
          </a:solidFill>
          <a:ln/>
        </p:spPr>
      </p:sp>
      <p:sp>
        <p:nvSpPr>
          <p:cNvPr id="6" name="Text 4"/>
          <p:cNvSpPr/>
          <p:nvPr/>
        </p:nvSpPr>
        <p:spPr>
          <a:xfrm>
            <a:off x="790555" y="5563056"/>
            <a:ext cx="8756431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17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Start with one vertex. Grow one tree. Keep every connection safe.</a:t>
            </a:r>
            <a:endParaRPr lang="en-US" sz="11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F6CEF7E-3CB8-79C8-3B4E-3515E74D17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4081" y="6529725"/>
            <a:ext cx="1137920" cy="3282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2935"/>
            <a:ext cx="4084238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48" dirty="0">
                <a:solidFill>
                  <a:srgbClr val="C9D8E4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07212"/>
            <a:ext cx="3474653" cy="1373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b="1" kern="100" spc="-85" dirty="0">
                <a:solidFill>
                  <a:srgbClr val="F6F3EE"/>
                </a:solidFill>
                <a:latin typeface="Chiron Hei HK Bold" pitchFamily="34" charset="0"/>
                <a:ea typeface="Chiron Hei HK Bold" pitchFamily="34" charset="-122"/>
                <a:cs typeface="Chiron Hei HK Bold" pitchFamily="34" charset="-120"/>
              </a:rPr>
              <a:t>What problem does an MST solve?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9585" y="2478921"/>
            <a:ext cx="3474653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DDE6E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Connect every vertex with the least total edge weight.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09585" y="3385840"/>
            <a:ext cx="1146543" cy="31651"/>
          </a:xfrm>
          <a:prstGeom prst="roundRect">
            <a:avLst>
              <a:gd name="adj" fmla="val 49998"/>
            </a:avLst>
          </a:prstGeom>
          <a:solidFill>
            <a:srgbClr val="34607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497" y="609604"/>
            <a:ext cx="539736" cy="5397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16128" y="622808"/>
            <a:ext cx="5065983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900" kern="100" spc="-47" dirty="0">
                <a:solidFill>
                  <a:srgbClr val="DDE6EE"/>
                </a:solidFill>
                <a:latin typeface="Chiron Hei HK Medium" pitchFamily="34" charset="0"/>
                <a:ea typeface="Chiron Hei HK Medium" pitchFamily="34" charset="-122"/>
                <a:cs typeface="Chiron Hei HK Medium" pitchFamily="34" charset="-120"/>
              </a:rPr>
              <a:t>Connect everything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516128" y="1105039"/>
            <a:ext cx="5675567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DDE6E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Every vertex belongs to the network.</a:t>
            </a:r>
            <a:endParaRPr lang="en-US" sz="17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497" y="2916341"/>
            <a:ext cx="539736" cy="5397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16128" y="2929545"/>
            <a:ext cx="5065983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900" kern="100" spc="-47" dirty="0">
                <a:solidFill>
                  <a:srgbClr val="DDE6EE"/>
                </a:solidFill>
                <a:latin typeface="Chiron Hei HK Medium" pitchFamily="34" charset="0"/>
                <a:ea typeface="Chiron Hei HK Medium" pitchFamily="34" charset="-122"/>
                <a:cs typeface="Chiron Hei HK Medium" pitchFamily="34" charset="-120"/>
              </a:rPr>
              <a:t>Avoid cycles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6516128" y="3411776"/>
            <a:ext cx="5675567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DDE6E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No unnecessary loop returns to an old vertex.</a:t>
            </a:r>
            <a:endParaRPr lang="en-US" sz="17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497" y="5223077"/>
            <a:ext cx="539736" cy="5397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516128" y="5236282"/>
            <a:ext cx="5065983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900" kern="100" spc="-47" dirty="0">
                <a:solidFill>
                  <a:srgbClr val="DDE6EE"/>
                </a:solidFill>
                <a:latin typeface="Chiron Hei HK Medium" pitchFamily="34" charset="0"/>
                <a:ea typeface="Chiron Hei HK Medium" pitchFamily="34" charset="-122"/>
                <a:cs typeface="Chiron Hei HK Medium" pitchFamily="34" charset="-120"/>
              </a:rPr>
              <a:t>Minimize total weight</a:t>
            </a:r>
            <a:endParaRPr lang="en-US" sz="1900" dirty="0"/>
          </a:p>
        </p:txBody>
      </p:sp>
      <p:sp>
        <p:nvSpPr>
          <p:cNvPr id="14" name="Text 9"/>
          <p:cNvSpPr/>
          <p:nvPr/>
        </p:nvSpPr>
        <p:spPr>
          <a:xfrm>
            <a:off x="6516128" y="5718512"/>
            <a:ext cx="5065983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DDE6E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Among valid choices, the total is as small as possible.</a:t>
            </a:r>
            <a:endParaRPr lang="en-US" sz="17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F3F7937-AE4E-E9EC-EB1C-B999B9D1D0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64855" y="6455575"/>
            <a:ext cx="1226840" cy="36607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2935"/>
            <a:ext cx="3855643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48" dirty="0">
                <a:solidFill>
                  <a:srgbClr val="C9D8E4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THE NAME EXPLAINED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07212"/>
            <a:ext cx="3855643" cy="183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b="1" kern="100" spc="-85" dirty="0">
                <a:solidFill>
                  <a:srgbClr val="F6F3EE"/>
                </a:solidFill>
                <a:latin typeface="Chiron Hei HK Bold" pitchFamily="34" charset="0"/>
                <a:ea typeface="Chiron Hei HK Bold" pitchFamily="34" charset="-122"/>
                <a:cs typeface="Chiron Hei HK Bold" pitchFamily="34" charset="-120"/>
              </a:rPr>
              <a:t>A spanning tree connects everything without loops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3048595"/>
            <a:ext cx="1272250" cy="31651"/>
          </a:xfrm>
          <a:prstGeom prst="roundRect">
            <a:avLst>
              <a:gd name="adj" fmla="val 49998"/>
            </a:avLst>
          </a:prstGeom>
          <a:solidFill>
            <a:srgbClr val="34607C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3344478"/>
            <a:ext cx="3855643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900" kern="100" spc="-47" dirty="0">
                <a:solidFill>
                  <a:srgbClr val="DDE6EE"/>
                </a:solidFill>
                <a:latin typeface="Chiron Hei HK Medium" pitchFamily="34" charset="0"/>
                <a:ea typeface="Chiron Hei HK Medium" pitchFamily="34" charset="-122"/>
                <a:cs typeface="Chiron Hei HK Medium" pitchFamily="34" charset="-120"/>
              </a:rPr>
              <a:t>Spanning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09585" y="3826709"/>
            <a:ext cx="3855643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DDE6E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Every vertex is included.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09585" y="4432014"/>
            <a:ext cx="3855643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900" kern="100" spc="-47" dirty="0">
                <a:solidFill>
                  <a:srgbClr val="DDE6EE"/>
                </a:solidFill>
                <a:latin typeface="Chiron Hei HK Medium" pitchFamily="34" charset="0"/>
                <a:ea typeface="Chiron Hei HK Medium" pitchFamily="34" charset="-122"/>
                <a:cs typeface="Chiron Hei HK Medium" pitchFamily="34" charset="-120"/>
              </a:rPr>
              <a:t>Tree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09585" y="4914245"/>
            <a:ext cx="3855643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DDE6E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All vertices are connected, and no cycle is present.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09585" y="5827772"/>
            <a:ext cx="3855643" cy="379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17" dirty="0">
                <a:solidFill>
                  <a:srgbClr val="C9D8E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 single minimum spanning tree exists when the graph is connected.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25920" y="2605286"/>
            <a:ext cx="1728645" cy="28277"/>
          </a:xfrm>
          <a:prstGeom prst="line">
            <a:avLst/>
          </a:prstGeom>
          <a:solidFill>
            <a:srgbClr val="FFB18F"/>
          </a:solidFill>
          <a:ln w="38100">
            <a:solidFill>
              <a:srgbClr val="9FD8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54565" y="2605286"/>
            <a:ext cx="1728645" cy="28277"/>
          </a:xfrm>
          <a:prstGeom prst="line">
            <a:avLst/>
          </a:prstGeom>
          <a:solidFill>
            <a:srgbClr val="FFB18F"/>
          </a:solidFill>
          <a:ln w="38100">
            <a:solidFill>
              <a:srgbClr val="9FD8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25920" y="2605286"/>
            <a:ext cx="878461" cy="1898749"/>
          </a:xfrm>
          <a:prstGeom prst="line">
            <a:avLst/>
          </a:prstGeom>
          <a:solidFill>
            <a:srgbClr val="FFB18F"/>
          </a:solidFill>
          <a:ln w="38100">
            <a:solidFill>
              <a:srgbClr val="9FD8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2459" y="2321917"/>
            <a:ext cx="566723" cy="566738"/>
          </a:xfrm>
          <a:prstGeom prst="ellipse">
            <a:avLst/>
          </a:prstGeom>
          <a:solidFill>
            <a:srgbClr val="9FD8FF"/>
          </a:solidFill>
          <a:ln/>
        </p:spPr>
      </p:sp>
      <p:sp>
        <p:nvSpPr>
          <p:cNvPr id="14" name="Shape 12"/>
          <p:cNvSpPr/>
          <p:nvPr/>
        </p:nvSpPr>
        <p:spPr>
          <a:xfrm>
            <a:off x="7671203" y="2321917"/>
            <a:ext cx="566723" cy="566738"/>
          </a:xfrm>
          <a:prstGeom prst="ellipse">
            <a:avLst/>
          </a:prstGeom>
          <a:solidFill>
            <a:srgbClr val="9FD8FF"/>
          </a:solidFill>
          <a:ln/>
        </p:spPr>
      </p:sp>
      <p:sp>
        <p:nvSpPr>
          <p:cNvPr id="15" name="Shape 13"/>
          <p:cNvSpPr/>
          <p:nvPr/>
        </p:nvSpPr>
        <p:spPr>
          <a:xfrm>
            <a:off x="9399848" y="2321917"/>
            <a:ext cx="566723" cy="566738"/>
          </a:xfrm>
          <a:prstGeom prst="ellipse">
            <a:avLst/>
          </a:prstGeom>
          <a:solidFill>
            <a:srgbClr val="9FD8FF"/>
          </a:solidFill>
          <a:ln/>
        </p:spPr>
      </p:sp>
      <p:sp>
        <p:nvSpPr>
          <p:cNvPr id="16" name="Shape 14"/>
          <p:cNvSpPr/>
          <p:nvPr/>
        </p:nvSpPr>
        <p:spPr>
          <a:xfrm>
            <a:off x="6821019" y="4220666"/>
            <a:ext cx="566723" cy="566738"/>
          </a:xfrm>
          <a:prstGeom prst="ellipse">
            <a:avLst/>
          </a:prstGeom>
          <a:solidFill>
            <a:srgbClr val="9FD8FF"/>
          </a:solidFill>
          <a:ln/>
        </p:spPr>
      </p:sp>
      <p:sp>
        <p:nvSpPr>
          <p:cNvPr id="17" name="Shape 15"/>
          <p:cNvSpPr/>
          <p:nvPr/>
        </p:nvSpPr>
        <p:spPr>
          <a:xfrm>
            <a:off x="9399848" y="4220666"/>
            <a:ext cx="566723" cy="566738"/>
          </a:xfrm>
          <a:prstGeom prst="ellipse">
            <a:avLst/>
          </a:prstGeom>
          <a:solidFill>
            <a:srgbClr val="9FD8FF"/>
          </a:solidFill>
          <a:ln/>
        </p:spPr>
      </p:sp>
      <p:sp>
        <p:nvSpPr>
          <p:cNvPr id="18" name="Text 16"/>
          <p:cNvSpPr/>
          <p:nvPr/>
        </p:nvSpPr>
        <p:spPr>
          <a:xfrm>
            <a:off x="5701364" y="2441402"/>
            <a:ext cx="1048914" cy="357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2000" dirty="0">
                <a:solidFill>
                  <a:srgbClr val="DDE6E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430108" y="2441402"/>
            <a:ext cx="1048914" cy="357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2000" dirty="0">
                <a:solidFill>
                  <a:srgbClr val="DDE6E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B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158753" y="2441402"/>
            <a:ext cx="1048914" cy="357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2000" dirty="0">
                <a:solidFill>
                  <a:srgbClr val="DDE6E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579924" y="4340151"/>
            <a:ext cx="1048914" cy="357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2000" dirty="0">
                <a:solidFill>
                  <a:srgbClr val="DDE6E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158753" y="4340151"/>
            <a:ext cx="1048914" cy="357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2000" dirty="0">
                <a:solidFill>
                  <a:srgbClr val="DDE6E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749980" y="1887696"/>
            <a:ext cx="1530709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150" kern="100" spc="17" dirty="0">
                <a:solidFill>
                  <a:srgbClr val="C9D8E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tree edges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003776" y="4806712"/>
            <a:ext cx="2607602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8000"/>
              </a:lnSpc>
              <a:buNone/>
            </a:pPr>
            <a:r>
              <a:rPr lang="en-US" sz="1150" kern="100" spc="17" dirty="0">
                <a:solidFill>
                  <a:srgbClr val="C9D8E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connected · no loops</a:t>
            </a:r>
            <a:endParaRPr lang="en-US" sz="115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DD3B2473-A7B4-D3CD-E158-073B31894A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1" y="6431280"/>
            <a:ext cx="1310640" cy="40823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2935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48" dirty="0">
                <a:solidFill>
                  <a:srgbClr val="C9D8E4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THE GREEDY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07212"/>
            <a:ext cx="10972526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b="1" kern="100" spc="-85" dirty="0">
                <a:solidFill>
                  <a:srgbClr val="F6F3EE"/>
                </a:solidFill>
                <a:latin typeface="Chiron Hei HK Bold" pitchFamily="34" charset="0"/>
                <a:ea typeface="Chiron Hei HK Bold" pitchFamily="34" charset="-122"/>
                <a:cs typeface="Chiron Hei HK Bold" pitchFamily="34" charset="-120"/>
              </a:rPr>
              <a:t>Prim’s big idea: grow one tree from a starting vertex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9585" y="1563529"/>
            <a:ext cx="11582110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DDE6E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At every moment, the tree stays connected.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09585" y="2168227"/>
            <a:ext cx="3620798" cy="31651"/>
          </a:xfrm>
          <a:prstGeom prst="roundRect">
            <a:avLst>
              <a:gd name="adj" fmla="val 49998"/>
            </a:avLst>
          </a:prstGeom>
          <a:solidFill>
            <a:srgbClr val="34607C"/>
          </a:solidFill>
          <a:ln/>
        </p:spPr>
      </p:sp>
      <p:sp>
        <p:nvSpPr>
          <p:cNvPr id="6" name="Shape 4"/>
          <p:cNvSpPr/>
          <p:nvPr/>
        </p:nvSpPr>
        <p:spPr>
          <a:xfrm>
            <a:off x="609585" y="2517577"/>
            <a:ext cx="250521" cy="2159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09585" y="2517577"/>
            <a:ext cx="860106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FFB18F"/>
                </a:solidFill>
                <a:latin typeface="Noto Sans TC SemiBold" pitchFamily="34" charset="0"/>
                <a:ea typeface="Noto Sans TC SemiBold" pitchFamily="34" charset="-122"/>
                <a:cs typeface="Noto Sans TC SemiBold" pitchFamily="34" charset="-120"/>
              </a:rPr>
              <a:t>01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09585" y="2820392"/>
            <a:ext cx="3352716" cy="19050"/>
          </a:xfrm>
          <a:prstGeom prst="rect">
            <a:avLst/>
          </a:prstGeom>
          <a:solidFill>
            <a:srgbClr val="FFD27A"/>
          </a:solidFill>
          <a:ln/>
        </p:spPr>
      </p:sp>
      <p:sp>
        <p:nvSpPr>
          <p:cNvPr id="9" name="Text 7"/>
          <p:cNvSpPr/>
          <p:nvPr/>
        </p:nvSpPr>
        <p:spPr>
          <a:xfrm>
            <a:off x="609585" y="2938971"/>
            <a:ext cx="3352716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900" kern="100" spc="-47" dirty="0">
                <a:solidFill>
                  <a:srgbClr val="DDE6EE"/>
                </a:solidFill>
                <a:latin typeface="Chiron Hei HK Medium" pitchFamily="34" charset="0"/>
                <a:ea typeface="Chiron Hei HK Medium" pitchFamily="34" charset="-122"/>
                <a:cs typeface="Chiron Hei HK Medium" pitchFamily="34" charset="-120"/>
              </a:rPr>
              <a:t>Pick a start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09585" y="3421201"/>
            <a:ext cx="3352716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DDE6E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Pick any starting vertex.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419489" y="2517577"/>
            <a:ext cx="250521" cy="2159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4419489" y="2517577"/>
            <a:ext cx="860106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FFB18F"/>
                </a:solidFill>
                <a:latin typeface="Noto Sans TC SemiBold" pitchFamily="34" charset="0"/>
                <a:ea typeface="Noto Sans TC SemiBold" pitchFamily="34" charset="-122"/>
                <a:cs typeface="Noto Sans TC SemiBold" pitchFamily="34" charset="-120"/>
              </a:rPr>
              <a:t>02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419489" y="2820392"/>
            <a:ext cx="3352716" cy="19050"/>
          </a:xfrm>
          <a:prstGeom prst="rect">
            <a:avLst/>
          </a:prstGeom>
          <a:solidFill>
            <a:srgbClr val="FFD27A"/>
          </a:solidFill>
          <a:ln/>
        </p:spPr>
      </p:sp>
      <p:sp>
        <p:nvSpPr>
          <p:cNvPr id="14" name="Text 12"/>
          <p:cNvSpPr/>
          <p:nvPr/>
        </p:nvSpPr>
        <p:spPr>
          <a:xfrm>
            <a:off x="4419489" y="2938971"/>
            <a:ext cx="3352716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900" kern="100" spc="-47" dirty="0">
                <a:solidFill>
                  <a:srgbClr val="DDE6EE"/>
                </a:solidFill>
                <a:latin typeface="Chiron Hei HK Medium" pitchFamily="34" charset="0"/>
                <a:ea typeface="Chiron Hei HK Medium" pitchFamily="34" charset="-122"/>
                <a:cs typeface="Chiron Hei HK Medium" pitchFamily="34" charset="-120"/>
              </a:rPr>
              <a:t>Watch the frontier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419489" y="3421201"/>
            <a:ext cx="3352716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DDE6E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Look at edges leaving the growing tree.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229394" y="2517577"/>
            <a:ext cx="250521" cy="2159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394" y="2517577"/>
            <a:ext cx="860106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FFB18F"/>
                </a:solidFill>
                <a:latin typeface="Noto Sans TC SemiBold" pitchFamily="34" charset="0"/>
                <a:ea typeface="Noto Sans TC SemiBold" pitchFamily="34" charset="-122"/>
                <a:cs typeface="Noto Sans TC SemiBold" pitchFamily="34" charset="-120"/>
              </a:rPr>
              <a:t>03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8229394" y="2820392"/>
            <a:ext cx="3352716" cy="19050"/>
          </a:xfrm>
          <a:prstGeom prst="rect">
            <a:avLst/>
          </a:prstGeom>
          <a:solidFill>
            <a:srgbClr val="FFD27A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394" y="2938971"/>
            <a:ext cx="3352716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900" kern="100" spc="-47" dirty="0">
                <a:solidFill>
                  <a:srgbClr val="DDE6EE"/>
                </a:solidFill>
                <a:latin typeface="Chiron Hei HK Medium" pitchFamily="34" charset="0"/>
                <a:ea typeface="Chiron Hei HK Medium" pitchFamily="34" charset="-122"/>
                <a:cs typeface="Chiron Hei HK Medium" pitchFamily="34" charset="-120"/>
              </a:rPr>
              <a:t>Add the cheapest edge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229394" y="3421201"/>
            <a:ext cx="3352716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DDE6E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Add the cheapest edge that reaches a new vertex.</a:t>
            </a:r>
            <a:endParaRPr lang="en-US" sz="17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EB8D8BE-C8F7-F08A-52A0-87AED78586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5367" y="6508732"/>
            <a:ext cx="1606633" cy="34926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2935"/>
            <a:ext cx="2887987" cy="365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48" dirty="0">
                <a:solidFill>
                  <a:srgbClr val="C9D8E4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WORKED EXAMPLE · ILLUSTRATIVE WEIGHTS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1090072"/>
            <a:ext cx="2887987" cy="1373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b="1" kern="100" spc="-85" dirty="0">
                <a:solidFill>
                  <a:srgbClr val="F6F3EE"/>
                </a:solidFill>
                <a:latin typeface="Chiron Hei HK Bold" pitchFamily="34" charset="0"/>
                <a:ea typeface="Chiron Hei HK Bold" pitchFamily="34" charset="-122"/>
                <a:cs typeface="Chiron Hei HK Bold" pitchFamily="34" charset="-120"/>
              </a:rPr>
              <a:t>Worked example: start at 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9585" y="2661781"/>
            <a:ext cx="2887987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DDE6E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We will grow a tree across five vertices: A, B, C, D, and 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09585" y="3870920"/>
            <a:ext cx="952873" cy="31651"/>
          </a:xfrm>
          <a:prstGeom prst="roundRect">
            <a:avLst>
              <a:gd name="adj" fmla="val 49998"/>
            </a:avLst>
          </a:prstGeom>
          <a:solidFill>
            <a:srgbClr val="34607C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4239478"/>
            <a:ext cx="2887987" cy="56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17" dirty="0">
                <a:solidFill>
                  <a:srgbClr val="C9D8E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The numbers are illustrative edge weights. The gold edge is the current tree; blue edges cross its frontier.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938" y="2406352"/>
            <a:ext cx="1636076" cy="27186"/>
          </a:xfrm>
          <a:prstGeom prst="line">
            <a:avLst/>
          </a:prstGeom>
          <a:solidFill>
            <a:srgbClr val="FFB18F"/>
          </a:solidFill>
          <a:ln w="25400">
            <a:solidFill>
              <a:srgbClr val="FF8FA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37014" y="2406352"/>
            <a:ext cx="1663361" cy="27186"/>
          </a:xfrm>
          <a:prstGeom prst="line">
            <a:avLst/>
          </a:prstGeom>
          <a:solidFill>
            <a:srgbClr val="FFB18F"/>
          </a:solidFill>
          <a:ln w="25400">
            <a:solidFill>
              <a:srgbClr val="3460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938" y="2406352"/>
            <a:ext cx="872607" cy="1854299"/>
          </a:xfrm>
          <a:prstGeom prst="line">
            <a:avLst/>
          </a:prstGeom>
          <a:solidFill>
            <a:srgbClr val="FFB18F"/>
          </a:solidFill>
          <a:ln w="25400">
            <a:solidFill>
              <a:srgbClr val="FF8FA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37014" y="2406352"/>
            <a:ext cx="1663361" cy="1854299"/>
          </a:xfrm>
          <a:prstGeom prst="line">
            <a:avLst/>
          </a:prstGeom>
          <a:solidFill>
            <a:srgbClr val="FFB18F"/>
          </a:solidFill>
          <a:ln w="25400">
            <a:solidFill>
              <a:srgbClr val="3460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938" y="2406352"/>
            <a:ext cx="3299536" cy="1854299"/>
          </a:xfrm>
          <a:prstGeom prst="line">
            <a:avLst/>
          </a:prstGeom>
          <a:solidFill>
            <a:srgbClr val="FFB18F"/>
          </a:solidFill>
          <a:ln w="25400">
            <a:solidFill>
              <a:srgbClr val="3460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8192" y="2133600"/>
            <a:ext cx="545293" cy="545306"/>
          </a:xfrm>
          <a:prstGeom prst="ellipse">
            <a:avLst/>
          </a:prstGeom>
          <a:solidFill>
            <a:srgbClr val="FFD27A"/>
          </a:solidFill>
          <a:ln/>
        </p:spPr>
      </p:sp>
      <p:sp>
        <p:nvSpPr>
          <p:cNvPr id="13" name="Shape 11"/>
          <p:cNvSpPr/>
          <p:nvPr/>
        </p:nvSpPr>
        <p:spPr>
          <a:xfrm>
            <a:off x="7764367" y="2133600"/>
            <a:ext cx="545293" cy="545306"/>
          </a:xfrm>
          <a:prstGeom prst="ellipse">
            <a:avLst/>
          </a:prstGeom>
          <a:solidFill>
            <a:srgbClr val="9FD8FF"/>
          </a:solidFill>
          <a:ln/>
        </p:spPr>
      </p:sp>
      <p:sp>
        <p:nvSpPr>
          <p:cNvPr id="14" name="Shape 12"/>
          <p:cNvSpPr/>
          <p:nvPr/>
        </p:nvSpPr>
        <p:spPr>
          <a:xfrm>
            <a:off x="9427728" y="2133600"/>
            <a:ext cx="545293" cy="545306"/>
          </a:xfrm>
          <a:prstGeom prst="ellipse">
            <a:avLst/>
          </a:prstGeom>
          <a:solidFill>
            <a:srgbClr val="9FD8FF"/>
          </a:solidFill>
          <a:ln/>
        </p:spPr>
      </p:sp>
      <p:sp>
        <p:nvSpPr>
          <p:cNvPr id="15" name="Shape 13"/>
          <p:cNvSpPr/>
          <p:nvPr/>
        </p:nvSpPr>
        <p:spPr>
          <a:xfrm>
            <a:off x="7000799" y="3987998"/>
            <a:ext cx="545293" cy="545306"/>
          </a:xfrm>
          <a:prstGeom prst="ellipse">
            <a:avLst/>
          </a:prstGeom>
          <a:solidFill>
            <a:srgbClr val="9FD8FF"/>
          </a:solidFill>
          <a:ln/>
        </p:spPr>
      </p:sp>
      <p:sp>
        <p:nvSpPr>
          <p:cNvPr id="16" name="Shape 14"/>
          <p:cNvSpPr/>
          <p:nvPr/>
        </p:nvSpPr>
        <p:spPr>
          <a:xfrm>
            <a:off x="9427728" y="3987998"/>
            <a:ext cx="545293" cy="545306"/>
          </a:xfrm>
          <a:prstGeom prst="ellipse">
            <a:avLst/>
          </a:prstGeom>
          <a:solidFill>
            <a:srgbClr val="9FD8FF"/>
          </a:solidFill>
          <a:ln/>
        </p:spPr>
      </p:sp>
      <p:sp>
        <p:nvSpPr>
          <p:cNvPr id="17" name="Text 15"/>
          <p:cNvSpPr/>
          <p:nvPr/>
        </p:nvSpPr>
        <p:spPr>
          <a:xfrm>
            <a:off x="5884715" y="2252686"/>
            <a:ext cx="1032246" cy="343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950" dirty="0">
                <a:solidFill>
                  <a:srgbClr val="DDE6E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7520891" y="2252686"/>
            <a:ext cx="1032246" cy="343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950" dirty="0">
                <a:solidFill>
                  <a:srgbClr val="DDE6E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B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9184251" y="2252686"/>
            <a:ext cx="1032246" cy="343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950" dirty="0">
                <a:solidFill>
                  <a:srgbClr val="DDE6E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6757322" y="4106985"/>
            <a:ext cx="1032246" cy="343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950" dirty="0">
                <a:solidFill>
                  <a:srgbClr val="DDE6E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9184251" y="4106985"/>
            <a:ext cx="1032246" cy="343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950" dirty="0">
                <a:solidFill>
                  <a:srgbClr val="DDE6E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7034830" y="1852871"/>
            <a:ext cx="1100507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17" dirty="0">
                <a:solidFill>
                  <a:srgbClr val="C9D8E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916467" y="1852871"/>
            <a:ext cx="1100507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17" dirty="0">
                <a:solidFill>
                  <a:srgbClr val="C9D8E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625861" y="3175456"/>
            <a:ext cx="1100507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17" dirty="0">
                <a:solidFill>
                  <a:srgbClr val="C9D8E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5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234653" y="4252575"/>
            <a:ext cx="1100507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17" dirty="0">
                <a:solidFill>
                  <a:srgbClr val="C9D8E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8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780044" y="3175456"/>
            <a:ext cx="1100507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17" dirty="0">
                <a:solidFill>
                  <a:srgbClr val="C9D8E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6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689360" y="2998153"/>
            <a:ext cx="1100507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17" dirty="0">
                <a:solidFill>
                  <a:srgbClr val="C9D8E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0279897" y="3298190"/>
            <a:ext cx="1441315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17" dirty="0">
                <a:solidFill>
                  <a:srgbClr val="C9D8E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frontier</a:t>
            </a:r>
            <a:endParaRPr lang="en-US" sz="115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55713CB-5796-3E78-B6F3-48DD0DFA3F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5367" y="6508732"/>
            <a:ext cx="1606633" cy="3492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2935"/>
            <a:ext cx="3497572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48" dirty="0">
                <a:solidFill>
                  <a:srgbClr val="C9D8E4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STEP 1 · CURRENT TREE: 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07212"/>
            <a:ext cx="2887987" cy="183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b="1" kern="100" spc="-85" dirty="0">
                <a:solidFill>
                  <a:srgbClr val="F6F3EE"/>
                </a:solidFill>
                <a:latin typeface="Chiron Hei HK Bold" pitchFamily="34" charset="0"/>
                <a:ea typeface="Chiron Hei HK Bold" pitchFamily="34" charset="-122"/>
                <a:cs typeface="Chiron Hei HK Bold" pitchFamily="34" charset="-120"/>
              </a:rPr>
              <a:t>Choose the cheapest edge crossing the frontier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9585" y="2936617"/>
            <a:ext cx="2887987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DDE6E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From A, compare its outgoing weights: 4, 2, and 5.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09585" y="4213097"/>
            <a:ext cx="2887987" cy="739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5200" kern="100" spc="-52" dirty="0">
                <a:solidFill>
                  <a:srgbClr val="FFD27A"/>
                </a:solidFill>
                <a:latin typeface="Chiron Hei HK SemiBold" pitchFamily="34" charset="0"/>
                <a:ea typeface="Chiron Hei HK SemiBold" pitchFamily="34" charset="-122"/>
                <a:cs typeface="Chiron Hei HK SemiBold" pitchFamily="34" charset="-120"/>
              </a:rPr>
              <a:t>2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09585" y="5161816"/>
            <a:ext cx="2887987" cy="379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17" dirty="0">
                <a:solidFill>
                  <a:srgbClr val="C9D8E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Add A–C. It is the lightest safe connection, so C joins the tree.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938" y="2406352"/>
            <a:ext cx="1636076" cy="27186"/>
          </a:xfrm>
          <a:prstGeom prst="line">
            <a:avLst/>
          </a:prstGeom>
          <a:solidFill>
            <a:srgbClr val="FFB18F"/>
          </a:solidFill>
          <a:ln w="25400">
            <a:solidFill>
              <a:srgbClr val="34607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37014" y="2406352"/>
            <a:ext cx="1663361" cy="27186"/>
          </a:xfrm>
          <a:prstGeom prst="line">
            <a:avLst/>
          </a:prstGeom>
          <a:solidFill>
            <a:srgbClr val="FFB18F"/>
          </a:solidFill>
          <a:ln w="25400">
            <a:solidFill>
              <a:srgbClr val="3460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938" y="2406352"/>
            <a:ext cx="872607" cy="1854299"/>
          </a:xfrm>
          <a:prstGeom prst="line">
            <a:avLst/>
          </a:prstGeom>
          <a:solidFill>
            <a:srgbClr val="FFB18F"/>
          </a:solidFill>
          <a:ln w="25400">
            <a:solidFill>
              <a:srgbClr val="34607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37014" y="2406352"/>
            <a:ext cx="1663361" cy="1854299"/>
          </a:xfrm>
          <a:prstGeom prst="line">
            <a:avLst/>
          </a:prstGeom>
          <a:solidFill>
            <a:srgbClr val="FFB18F"/>
          </a:solidFill>
          <a:ln w="25400">
            <a:solidFill>
              <a:srgbClr val="3460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938" y="2406352"/>
            <a:ext cx="3299536" cy="1854299"/>
          </a:xfrm>
          <a:prstGeom prst="line">
            <a:avLst/>
          </a:prstGeom>
          <a:solidFill>
            <a:srgbClr val="FFB18F"/>
          </a:solidFill>
          <a:ln w="50800">
            <a:solidFill>
              <a:srgbClr val="9FD8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8192" y="2133600"/>
            <a:ext cx="545293" cy="545306"/>
          </a:xfrm>
          <a:prstGeom prst="ellipse">
            <a:avLst/>
          </a:prstGeom>
          <a:solidFill>
            <a:srgbClr val="FFD27A"/>
          </a:solidFill>
          <a:ln/>
        </p:spPr>
      </p:sp>
      <p:sp>
        <p:nvSpPr>
          <p:cNvPr id="13" name="Shape 11"/>
          <p:cNvSpPr/>
          <p:nvPr/>
        </p:nvSpPr>
        <p:spPr>
          <a:xfrm>
            <a:off x="7764367" y="2133600"/>
            <a:ext cx="545293" cy="545306"/>
          </a:xfrm>
          <a:prstGeom prst="ellipse">
            <a:avLst/>
          </a:prstGeom>
          <a:solidFill>
            <a:srgbClr val="9FD8FF"/>
          </a:solidFill>
          <a:ln/>
        </p:spPr>
      </p:sp>
      <p:sp>
        <p:nvSpPr>
          <p:cNvPr id="14" name="Shape 12"/>
          <p:cNvSpPr/>
          <p:nvPr/>
        </p:nvSpPr>
        <p:spPr>
          <a:xfrm>
            <a:off x="9427728" y="2133600"/>
            <a:ext cx="545293" cy="545306"/>
          </a:xfrm>
          <a:prstGeom prst="ellipse">
            <a:avLst/>
          </a:prstGeom>
          <a:solidFill>
            <a:srgbClr val="FFD27A"/>
          </a:solidFill>
          <a:ln/>
        </p:spPr>
      </p:sp>
      <p:sp>
        <p:nvSpPr>
          <p:cNvPr id="15" name="Shape 13"/>
          <p:cNvSpPr/>
          <p:nvPr/>
        </p:nvSpPr>
        <p:spPr>
          <a:xfrm>
            <a:off x="7000799" y="3987998"/>
            <a:ext cx="545293" cy="545306"/>
          </a:xfrm>
          <a:prstGeom prst="ellipse">
            <a:avLst/>
          </a:prstGeom>
          <a:solidFill>
            <a:srgbClr val="9FD8FF"/>
          </a:solidFill>
          <a:ln/>
        </p:spPr>
      </p:sp>
      <p:sp>
        <p:nvSpPr>
          <p:cNvPr id="16" name="Shape 14"/>
          <p:cNvSpPr/>
          <p:nvPr/>
        </p:nvSpPr>
        <p:spPr>
          <a:xfrm>
            <a:off x="9427728" y="3987998"/>
            <a:ext cx="545293" cy="545306"/>
          </a:xfrm>
          <a:prstGeom prst="ellipse">
            <a:avLst/>
          </a:prstGeom>
          <a:solidFill>
            <a:srgbClr val="9FD8FF"/>
          </a:solidFill>
          <a:ln/>
        </p:spPr>
      </p:sp>
      <p:sp>
        <p:nvSpPr>
          <p:cNvPr id="17" name="Text 15"/>
          <p:cNvSpPr/>
          <p:nvPr/>
        </p:nvSpPr>
        <p:spPr>
          <a:xfrm>
            <a:off x="5884715" y="2252686"/>
            <a:ext cx="1032246" cy="343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950" dirty="0">
                <a:solidFill>
                  <a:srgbClr val="DDE6E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7520891" y="2252686"/>
            <a:ext cx="1032246" cy="343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950" dirty="0">
                <a:solidFill>
                  <a:srgbClr val="DDE6E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B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9184251" y="2252686"/>
            <a:ext cx="1032246" cy="343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950" dirty="0">
                <a:solidFill>
                  <a:srgbClr val="DDE6E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6757322" y="4106985"/>
            <a:ext cx="1032246" cy="343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950" dirty="0">
                <a:solidFill>
                  <a:srgbClr val="DDE6E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9184251" y="4106985"/>
            <a:ext cx="1032246" cy="343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950" dirty="0">
                <a:solidFill>
                  <a:srgbClr val="DDE6E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7034830" y="1852871"/>
            <a:ext cx="1100507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17" dirty="0">
                <a:solidFill>
                  <a:srgbClr val="C9D8E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916467" y="1852871"/>
            <a:ext cx="1100507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17" dirty="0">
                <a:solidFill>
                  <a:srgbClr val="C9D8E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625861" y="3175456"/>
            <a:ext cx="1100507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17" dirty="0">
                <a:solidFill>
                  <a:srgbClr val="C9D8E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5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234653" y="4252575"/>
            <a:ext cx="1100507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17" dirty="0">
                <a:solidFill>
                  <a:srgbClr val="C9D8E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8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780044" y="3175456"/>
            <a:ext cx="1100507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17" dirty="0">
                <a:solidFill>
                  <a:srgbClr val="C9D8E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6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689360" y="2998153"/>
            <a:ext cx="1100507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17" dirty="0">
                <a:solidFill>
                  <a:srgbClr val="C9D8E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0143574" y="2834541"/>
            <a:ext cx="1645799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17" dirty="0">
                <a:solidFill>
                  <a:srgbClr val="C9D8E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A–C selected</a:t>
            </a:r>
            <a:endParaRPr lang="en-US" sz="115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4F2184C3-A808-4381-80C1-0465A51F1B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5367" y="6508732"/>
            <a:ext cx="1606633" cy="34926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2935"/>
            <a:ext cx="3497572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48" dirty="0">
                <a:solidFill>
                  <a:srgbClr val="C9D8E4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STEP 2 · CURRENT TREE: A–C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07212"/>
            <a:ext cx="2887987" cy="183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b="1" kern="100" spc="-85" dirty="0">
                <a:solidFill>
                  <a:srgbClr val="F6F3EE"/>
                </a:solidFill>
                <a:latin typeface="Chiron Hei HK Bold" pitchFamily="34" charset="0"/>
                <a:ea typeface="Chiron Hei HK Bold" pitchFamily="34" charset="-122"/>
                <a:cs typeface="Chiron Hei HK Bold" pitchFamily="34" charset="-120"/>
              </a:rPr>
              <a:t>Expand the frontier, not the whole graph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9585" y="2936617"/>
            <a:ext cx="2887987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DDE6E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Now reconsider every edge from A or C to an unvisited vertex.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09585" y="4213097"/>
            <a:ext cx="2887987" cy="739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5200" kern="100" spc="-52" dirty="0">
                <a:solidFill>
                  <a:srgbClr val="FFD27A"/>
                </a:solidFill>
                <a:latin typeface="Chiron Hei HK SemiBold" pitchFamily="34" charset="0"/>
                <a:ea typeface="Chiron Hei HK SemiBold" pitchFamily="34" charset="-122"/>
                <a:cs typeface="Chiron Hei HK SemiBold" pitchFamily="34" charset="-120"/>
              </a:rPr>
              <a:t>1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09585" y="5161816"/>
            <a:ext cx="2887987" cy="56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17" dirty="0">
                <a:solidFill>
                  <a:srgbClr val="C9D8E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B is now reachable through C with weight 1. Edges inside the tree are ignored.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938" y="2406352"/>
            <a:ext cx="1636076" cy="27186"/>
          </a:xfrm>
          <a:prstGeom prst="line">
            <a:avLst/>
          </a:prstGeom>
          <a:solidFill>
            <a:srgbClr val="FFB18F"/>
          </a:solidFill>
          <a:ln w="25400">
            <a:solidFill>
              <a:srgbClr val="34607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37014" y="2406352"/>
            <a:ext cx="1663361" cy="27186"/>
          </a:xfrm>
          <a:prstGeom prst="line">
            <a:avLst/>
          </a:prstGeom>
          <a:solidFill>
            <a:srgbClr val="FFB18F"/>
          </a:solidFill>
          <a:ln w="50800">
            <a:solidFill>
              <a:srgbClr val="FF8F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938" y="2406352"/>
            <a:ext cx="872607" cy="1854299"/>
          </a:xfrm>
          <a:prstGeom prst="line">
            <a:avLst/>
          </a:prstGeom>
          <a:solidFill>
            <a:srgbClr val="FFB18F"/>
          </a:solidFill>
          <a:ln w="25400">
            <a:solidFill>
              <a:srgbClr val="34607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37014" y="2406352"/>
            <a:ext cx="1663361" cy="1854299"/>
          </a:xfrm>
          <a:prstGeom prst="line">
            <a:avLst/>
          </a:prstGeom>
          <a:solidFill>
            <a:srgbClr val="FFB18F"/>
          </a:solidFill>
          <a:ln w="25400">
            <a:solidFill>
              <a:srgbClr val="3460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938" y="2406352"/>
            <a:ext cx="3299536" cy="1854299"/>
          </a:xfrm>
          <a:prstGeom prst="line">
            <a:avLst/>
          </a:prstGeom>
          <a:solidFill>
            <a:srgbClr val="FFB18F"/>
          </a:solidFill>
          <a:ln w="50800">
            <a:solidFill>
              <a:srgbClr val="9FD8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8192" y="2133600"/>
            <a:ext cx="545293" cy="545306"/>
          </a:xfrm>
          <a:prstGeom prst="ellipse">
            <a:avLst/>
          </a:prstGeom>
          <a:solidFill>
            <a:srgbClr val="FFD27A"/>
          </a:solidFill>
          <a:ln/>
        </p:spPr>
      </p:sp>
      <p:sp>
        <p:nvSpPr>
          <p:cNvPr id="13" name="Shape 11"/>
          <p:cNvSpPr/>
          <p:nvPr/>
        </p:nvSpPr>
        <p:spPr>
          <a:xfrm>
            <a:off x="7764367" y="2133600"/>
            <a:ext cx="545293" cy="545306"/>
          </a:xfrm>
          <a:prstGeom prst="ellipse">
            <a:avLst/>
          </a:prstGeom>
          <a:solidFill>
            <a:srgbClr val="FFD27A"/>
          </a:solidFill>
          <a:ln/>
        </p:spPr>
      </p:sp>
      <p:sp>
        <p:nvSpPr>
          <p:cNvPr id="14" name="Shape 12"/>
          <p:cNvSpPr/>
          <p:nvPr/>
        </p:nvSpPr>
        <p:spPr>
          <a:xfrm>
            <a:off x="9427728" y="2133600"/>
            <a:ext cx="545293" cy="545306"/>
          </a:xfrm>
          <a:prstGeom prst="ellipse">
            <a:avLst/>
          </a:prstGeom>
          <a:solidFill>
            <a:srgbClr val="FFD27A"/>
          </a:solidFill>
          <a:ln/>
        </p:spPr>
      </p:sp>
      <p:sp>
        <p:nvSpPr>
          <p:cNvPr id="15" name="Shape 13"/>
          <p:cNvSpPr/>
          <p:nvPr/>
        </p:nvSpPr>
        <p:spPr>
          <a:xfrm>
            <a:off x="7000799" y="3987998"/>
            <a:ext cx="545293" cy="545306"/>
          </a:xfrm>
          <a:prstGeom prst="ellipse">
            <a:avLst/>
          </a:prstGeom>
          <a:solidFill>
            <a:srgbClr val="9FD8FF"/>
          </a:solidFill>
          <a:ln/>
        </p:spPr>
      </p:sp>
      <p:sp>
        <p:nvSpPr>
          <p:cNvPr id="16" name="Shape 14"/>
          <p:cNvSpPr/>
          <p:nvPr/>
        </p:nvSpPr>
        <p:spPr>
          <a:xfrm>
            <a:off x="9427728" y="3987998"/>
            <a:ext cx="545293" cy="545306"/>
          </a:xfrm>
          <a:prstGeom prst="ellipse">
            <a:avLst/>
          </a:prstGeom>
          <a:solidFill>
            <a:srgbClr val="9FD8FF"/>
          </a:solidFill>
          <a:ln/>
        </p:spPr>
      </p:sp>
      <p:sp>
        <p:nvSpPr>
          <p:cNvPr id="17" name="Text 15"/>
          <p:cNvSpPr/>
          <p:nvPr/>
        </p:nvSpPr>
        <p:spPr>
          <a:xfrm>
            <a:off x="5884715" y="2252686"/>
            <a:ext cx="1032246" cy="343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950" dirty="0">
                <a:solidFill>
                  <a:srgbClr val="DDE6E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7520891" y="2252686"/>
            <a:ext cx="1032246" cy="343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950" dirty="0">
                <a:solidFill>
                  <a:srgbClr val="DDE6E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B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9184251" y="2252686"/>
            <a:ext cx="1032246" cy="343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950" dirty="0">
                <a:solidFill>
                  <a:srgbClr val="DDE6E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6757322" y="4106985"/>
            <a:ext cx="1032246" cy="343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950" dirty="0">
                <a:solidFill>
                  <a:srgbClr val="DDE6E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9184251" y="4106985"/>
            <a:ext cx="1032246" cy="343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950" dirty="0">
                <a:solidFill>
                  <a:srgbClr val="DDE6E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7034830" y="1852871"/>
            <a:ext cx="1100507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17" dirty="0">
                <a:solidFill>
                  <a:srgbClr val="C9D8E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916467" y="1852871"/>
            <a:ext cx="1100507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17" dirty="0">
                <a:solidFill>
                  <a:srgbClr val="C9D8E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625861" y="3175456"/>
            <a:ext cx="1100507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17" dirty="0">
                <a:solidFill>
                  <a:srgbClr val="C9D8E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5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234653" y="4252575"/>
            <a:ext cx="1100507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17" dirty="0">
                <a:solidFill>
                  <a:srgbClr val="C9D8E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8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780044" y="3175456"/>
            <a:ext cx="1100507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17" dirty="0">
                <a:solidFill>
                  <a:srgbClr val="C9D8E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6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689360" y="2998153"/>
            <a:ext cx="1100507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17" dirty="0">
                <a:solidFill>
                  <a:srgbClr val="C9D8E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0143574" y="2834541"/>
            <a:ext cx="1645799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17" dirty="0">
                <a:solidFill>
                  <a:srgbClr val="C9D8E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C–B selected</a:t>
            </a:r>
            <a:endParaRPr lang="en-US" sz="115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0353A237-7EB6-3705-ED27-F4C3933542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5367" y="6500873"/>
            <a:ext cx="1606633" cy="3492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2935"/>
            <a:ext cx="3497572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48" dirty="0">
                <a:solidFill>
                  <a:srgbClr val="C9D8E4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STEP 3 · FINAL TREE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07212"/>
            <a:ext cx="2887987" cy="1373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b="1" kern="100" spc="-85" dirty="0">
                <a:solidFill>
                  <a:srgbClr val="F6F3EE"/>
                </a:solidFill>
                <a:latin typeface="Chiron Hei HK Bold" pitchFamily="34" charset="0"/>
                <a:ea typeface="Chiron Hei HK Bold" pitchFamily="34" charset="-122"/>
                <a:cs typeface="Chiron Hei HK Bold" pitchFamily="34" charset="-120"/>
              </a:rPr>
              <a:t>Repeat until every vertex is connected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9585" y="2478921"/>
            <a:ext cx="2887987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DDE6E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Each choice adds one new vertex and never creates a cycle.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09585" y="3755401"/>
            <a:ext cx="2887987" cy="739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5200" kern="100" spc="-52" dirty="0">
                <a:solidFill>
                  <a:srgbClr val="FFD27A"/>
                </a:solidFill>
                <a:latin typeface="Chiron Hei HK SemiBold" pitchFamily="34" charset="0"/>
                <a:ea typeface="Chiron Hei HK SemiBold" pitchFamily="34" charset="-122"/>
                <a:cs typeface="Chiron Hei HK SemiBold" pitchFamily="34" charset="-120"/>
              </a:rPr>
              <a:t>4 edges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09585" y="4704120"/>
            <a:ext cx="2887987" cy="379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17" dirty="0">
                <a:solidFill>
                  <a:srgbClr val="C9D8E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Five vertices need exactly one fewer edge: 5 − 1 = 4.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938" y="2406352"/>
            <a:ext cx="1636076" cy="27186"/>
          </a:xfrm>
          <a:prstGeom prst="line">
            <a:avLst/>
          </a:prstGeom>
          <a:solidFill>
            <a:srgbClr val="FFB18F"/>
          </a:solidFill>
          <a:ln w="25400">
            <a:solidFill>
              <a:srgbClr val="34607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37014" y="2406352"/>
            <a:ext cx="1663361" cy="27186"/>
          </a:xfrm>
          <a:prstGeom prst="line">
            <a:avLst/>
          </a:prstGeom>
          <a:solidFill>
            <a:srgbClr val="FFB18F"/>
          </a:solidFill>
          <a:ln w="50800">
            <a:solidFill>
              <a:srgbClr val="FF8F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938" y="2406352"/>
            <a:ext cx="872607" cy="1854299"/>
          </a:xfrm>
          <a:prstGeom prst="line">
            <a:avLst/>
          </a:prstGeom>
          <a:solidFill>
            <a:srgbClr val="FFB18F"/>
          </a:solidFill>
          <a:ln w="25400">
            <a:solidFill>
              <a:srgbClr val="34607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37014" y="2406352"/>
            <a:ext cx="1663361" cy="1854299"/>
          </a:xfrm>
          <a:prstGeom prst="line">
            <a:avLst/>
          </a:prstGeom>
          <a:solidFill>
            <a:srgbClr val="FFB18F"/>
          </a:solidFill>
          <a:ln w="25400">
            <a:solidFill>
              <a:srgbClr val="3460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938" y="2406352"/>
            <a:ext cx="3299536" cy="1854299"/>
          </a:xfrm>
          <a:prstGeom prst="line">
            <a:avLst/>
          </a:prstGeom>
          <a:solidFill>
            <a:srgbClr val="FFB18F"/>
          </a:solidFill>
          <a:ln w="50800">
            <a:solidFill>
              <a:srgbClr val="9FD8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8192" y="2133600"/>
            <a:ext cx="545293" cy="545306"/>
          </a:xfrm>
          <a:prstGeom prst="ellipse">
            <a:avLst/>
          </a:prstGeom>
          <a:solidFill>
            <a:srgbClr val="FFD27A"/>
          </a:solidFill>
          <a:ln/>
        </p:spPr>
      </p:sp>
      <p:sp>
        <p:nvSpPr>
          <p:cNvPr id="13" name="Shape 11"/>
          <p:cNvSpPr/>
          <p:nvPr/>
        </p:nvSpPr>
        <p:spPr>
          <a:xfrm>
            <a:off x="7764367" y="2133600"/>
            <a:ext cx="545293" cy="545306"/>
          </a:xfrm>
          <a:prstGeom prst="ellipse">
            <a:avLst/>
          </a:prstGeom>
          <a:solidFill>
            <a:srgbClr val="FFD27A"/>
          </a:solidFill>
          <a:ln/>
        </p:spPr>
      </p:sp>
      <p:sp>
        <p:nvSpPr>
          <p:cNvPr id="14" name="Shape 12"/>
          <p:cNvSpPr/>
          <p:nvPr/>
        </p:nvSpPr>
        <p:spPr>
          <a:xfrm>
            <a:off x="9427728" y="2133600"/>
            <a:ext cx="545293" cy="545306"/>
          </a:xfrm>
          <a:prstGeom prst="ellipse">
            <a:avLst/>
          </a:prstGeom>
          <a:solidFill>
            <a:srgbClr val="FFD27A"/>
          </a:solidFill>
          <a:ln/>
        </p:spPr>
      </p:sp>
      <p:sp>
        <p:nvSpPr>
          <p:cNvPr id="15" name="Shape 13"/>
          <p:cNvSpPr/>
          <p:nvPr/>
        </p:nvSpPr>
        <p:spPr>
          <a:xfrm>
            <a:off x="7000799" y="3987998"/>
            <a:ext cx="545293" cy="545306"/>
          </a:xfrm>
          <a:prstGeom prst="ellipse">
            <a:avLst/>
          </a:prstGeom>
          <a:solidFill>
            <a:srgbClr val="FFD27A"/>
          </a:solidFill>
          <a:ln/>
        </p:spPr>
      </p:sp>
      <p:sp>
        <p:nvSpPr>
          <p:cNvPr id="16" name="Shape 14"/>
          <p:cNvSpPr/>
          <p:nvPr/>
        </p:nvSpPr>
        <p:spPr>
          <a:xfrm>
            <a:off x="9427728" y="3987998"/>
            <a:ext cx="545293" cy="545306"/>
          </a:xfrm>
          <a:prstGeom prst="ellipse">
            <a:avLst/>
          </a:prstGeom>
          <a:solidFill>
            <a:srgbClr val="FFD27A"/>
          </a:solidFill>
          <a:ln/>
        </p:spPr>
      </p:sp>
      <p:sp>
        <p:nvSpPr>
          <p:cNvPr id="17" name="Text 15"/>
          <p:cNvSpPr/>
          <p:nvPr/>
        </p:nvSpPr>
        <p:spPr>
          <a:xfrm>
            <a:off x="5884715" y="2252686"/>
            <a:ext cx="1032246" cy="343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950" dirty="0">
                <a:solidFill>
                  <a:srgbClr val="DDE6E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7520891" y="2252686"/>
            <a:ext cx="1032246" cy="343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950" dirty="0">
                <a:solidFill>
                  <a:srgbClr val="DDE6E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B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9184251" y="2252686"/>
            <a:ext cx="1032246" cy="343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950" dirty="0">
                <a:solidFill>
                  <a:srgbClr val="DDE6E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6757322" y="4106985"/>
            <a:ext cx="1032246" cy="343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950" dirty="0">
                <a:solidFill>
                  <a:srgbClr val="DDE6E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9184251" y="4106985"/>
            <a:ext cx="1032246" cy="343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950" dirty="0">
                <a:solidFill>
                  <a:srgbClr val="DDE6E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7034830" y="1852871"/>
            <a:ext cx="1100507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17" dirty="0">
                <a:solidFill>
                  <a:srgbClr val="C9D8E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916467" y="1852871"/>
            <a:ext cx="1100507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17" dirty="0">
                <a:solidFill>
                  <a:srgbClr val="C9D8E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625861" y="3175456"/>
            <a:ext cx="1100507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17" dirty="0">
                <a:solidFill>
                  <a:srgbClr val="C9D8E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5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234653" y="4252575"/>
            <a:ext cx="1100507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17" dirty="0">
                <a:solidFill>
                  <a:srgbClr val="C9D8E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8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780044" y="3175456"/>
            <a:ext cx="1100507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17" dirty="0">
                <a:solidFill>
                  <a:srgbClr val="C9D8E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6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689360" y="2998153"/>
            <a:ext cx="1100507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17" dirty="0">
                <a:solidFill>
                  <a:srgbClr val="C9D8E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0143574" y="2834541"/>
            <a:ext cx="1036215" cy="379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17" dirty="0">
                <a:solidFill>
                  <a:srgbClr val="C9D8E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all vertices reached</a:t>
            </a:r>
            <a:endParaRPr lang="en-US" sz="115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8B8EFAEB-46C8-939F-CE73-6F119F16D8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6599" y="6500873"/>
            <a:ext cx="1606633" cy="34926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669296"/>
            <a:ext cx="5648878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48" dirty="0">
                <a:solidFill>
                  <a:srgbClr val="C9D8E4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PUTTING IT INTO WORDS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1953573"/>
            <a:ext cx="5039293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b="1" kern="100" spc="-85" dirty="0">
                <a:solidFill>
                  <a:srgbClr val="F6F3EE"/>
                </a:solidFill>
                <a:latin typeface="Chiron Hei HK Bold" pitchFamily="34" charset="0"/>
                <a:ea typeface="Chiron Hei HK Bold" pitchFamily="34" charset="-122"/>
                <a:cs typeface="Chiron Hei HK Bold" pitchFamily="34" charset="-120"/>
              </a:rPr>
              <a:t>Prim’s algorithm in pseudocode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3179564"/>
            <a:ext cx="1662964" cy="31651"/>
          </a:xfrm>
          <a:prstGeom prst="roundRect">
            <a:avLst>
              <a:gd name="adj" fmla="val 49998"/>
            </a:avLst>
          </a:prstGeom>
          <a:solidFill>
            <a:srgbClr val="34607C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3528913"/>
            <a:ext cx="5039293" cy="1673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17000"/>
              </a:lnSpc>
              <a:buSzPct val="100000"/>
              <a:buFont typeface="+mj-lt"/>
              <a:buAutoNum type="arabicPeriod"/>
            </a:pPr>
            <a:r>
              <a:rPr lang="en-US" sz="1700" dirty="0">
                <a:solidFill>
                  <a:srgbClr val="DDE6E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Start with a chosen vertex in the tree.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Font typeface="+mj-lt"/>
              <a:buAutoNum type="arabicPeriod" startAt="2"/>
            </a:pPr>
            <a:r>
              <a:rPr lang="en-US" sz="1700" dirty="0">
                <a:solidFill>
                  <a:srgbClr val="DDE6E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While unvisited vertices remain, select the cheapest crossing edge.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Font typeface="+mj-lt"/>
              <a:buAutoNum type="arabicPeriod" startAt="3"/>
            </a:pPr>
            <a:r>
              <a:rPr lang="en-US" sz="1700" dirty="0">
                <a:solidFill>
                  <a:srgbClr val="DDE6E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Add its new vertex and edge.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Font typeface="+mj-lt"/>
              <a:buAutoNum type="arabicPeriod" startAt="4"/>
            </a:pPr>
            <a:r>
              <a:rPr lang="en-US" sz="1700" dirty="0">
                <a:solidFill>
                  <a:srgbClr val="DDE6E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Return the selected edges.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25137" y="2019439"/>
            <a:ext cx="4866558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48" dirty="0">
                <a:solidFill>
                  <a:srgbClr val="C9D8E4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THE LOOP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25137" y="2297481"/>
            <a:ext cx="4256973" cy="739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5200" kern="100" spc="-52" dirty="0">
                <a:solidFill>
                  <a:srgbClr val="FFD27A"/>
                </a:solidFill>
                <a:latin typeface="Chiron Hei HK SemiBold" pitchFamily="34" charset="0"/>
                <a:ea typeface="Chiron Hei HK SemiBold" pitchFamily="34" charset="-122"/>
                <a:cs typeface="Chiron Hei HK SemiBold" pitchFamily="34" charset="-120"/>
              </a:rPr>
              <a:t>cheapest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7325137" y="3293309"/>
            <a:ext cx="4866558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DDE6E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crossing edge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25137" y="3898007"/>
            <a:ext cx="1404605" cy="31651"/>
          </a:xfrm>
          <a:prstGeom prst="roundRect">
            <a:avLst>
              <a:gd name="adj" fmla="val 49998"/>
            </a:avLst>
          </a:prstGeom>
          <a:solidFill>
            <a:srgbClr val="34607C"/>
          </a:solidFill>
          <a:ln/>
        </p:spPr>
      </p:sp>
      <p:sp>
        <p:nvSpPr>
          <p:cNvPr id="10" name="Text 8"/>
          <p:cNvSpPr/>
          <p:nvPr/>
        </p:nvSpPr>
        <p:spPr>
          <a:xfrm>
            <a:off x="7325137" y="4262279"/>
            <a:ext cx="4256973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DDE6E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→ one new vertex</a:t>
            </a:r>
            <a:endParaRPr lang="en-US" sz="17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DDE6E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→ one more tree edge</a:t>
            </a:r>
            <a:endParaRPr lang="en-US" sz="17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60AF30E-7B65-D20E-5F75-01E3C113C0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5367" y="6523972"/>
            <a:ext cx="1606633" cy="34926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47618" y="1010087"/>
            <a:ext cx="2296361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kern="100" spc="48" dirty="0">
                <a:solidFill>
                  <a:srgbClr val="C9D8E4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REMEMBER THE RULE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224628" y="1293558"/>
            <a:ext cx="10972526" cy="910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6400" kern="100" spc="-64" dirty="0">
                <a:solidFill>
                  <a:srgbClr val="F6F3EE"/>
                </a:solidFill>
                <a:latin typeface="Chiron Hei HK SemiBold" pitchFamily="34" charset="0"/>
                <a:ea typeface="Chiron Hei HK SemiBold" pitchFamily="34" charset="-122"/>
                <a:cs typeface="Chiron Hei HK SemiBold" pitchFamily="34" charset="-120"/>
              </a:rPr>
              <a:t>Grow outward.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3362439" y="2394390"/>
            <a:ext cx="10972526" cy="910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6400" kern="100" spc="-64" dirty="0">
                <a:solidFill>
                  <a:srgbClr val="F6F3EE"/>
                </a:solidFill>
                <a:latin typeface="Chiron Hei HK SemiBold" pitchFamily="34" charset="0"/>
                <a:ea typeface="Chiron Hei HK SemiBold" pitchFamily="34" charset="-122"/>
                <a:cs typeface="Chiron Hei HK SemiBold" pitchFamily="34" charset="-120"/>
              </a:rPr>
              <a:t>Choose safely.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048717" y="3495222"/>
            <a:ext cx="10972526" cy="910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6400" kern="100" spc="-64" dirty="0">
                <a:solidFill>
                  <a:srgbClr val="F6F3EE"/>
                </a:solidFill>
                <a:latin typeface="Chiron Hei HK SemiBold" pitchFamily="34" charset="0"/>
                <a:ea typeface="Chiron Hei HK SemiBold" pitchFamily="34" charset="-122"/>
                <a:cs typeface="Chiron Hei HK SemiBold" pitchFamily="34" charset="-120"/>
              </a:rPr>
              <a:t>Stay connected.</a:t>
            </a:r>
            <a:endParaRPr lang="en-US" sz="6400" dirty="0"/>
          </a:p>
        </p:txBody>
      </p:sp>
      <p:sp>
        <p:nvSpPr>
          <p:cNvPr id="6" name="Shape 4"/>
          <p:cNvSpPr/>
          <p:nvPr/>
        </p:nvSpPr>
        <p:spPr>
          <a:xfrm>
            <a:off x="4285349" y="4829274"/>
            <a:ext cx="3620798" cy="31651"/>
          </a:xfrm>
          <a:prstGeom prst="roundRect">
            <a:avLst>
              <a:gd name="adj" fmla="val 49998"/>
            </a:avLst>
          </a:prstGeom>
          <a:solidFill>
            <a:srgbClr val="34607C"/>
          </a:solidFill>
          <a:ln/>
        </p:spPr>
      </p:sp>
      <p:sp>
        <p:nvSpPr>
          <p:cNvPr id="7" name="Text 5"/>
          <p:cNvSpPr/>
          <p:nvPr/>
        </p:nvSpPr>
        <p:spPr>
          <a:xfrm>
            <a:off x="1303900" y="5193546"/>
            <a:ext cx="9583895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700" dirty="0">
                <a:solidFill>
                  <a:srgbClr val="DDE6E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Prim grows one connected tree by choosing the cheapest safe crossing edge at every step.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219766" y="5690553"/>
            <a:ext cx="7752164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150" kern="100" spc="17" dirty="0">
                <a:solidFill>
                  <a:srgbClr val="C9D8E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In efficient implementations, a priority queue helps find that edge. Compare with Kruskal when useful.</a:t>
            </a:r>
            <a:endParaRPr lang="en-US" sz="11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2B297B8-7763-2887-84B0-0C24882A65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5367" y="6508732"/>
            <a:ext cx="1606633" cy="3492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544</Words>
  <Application>Microsoft Office PowerPoint</Application>
  <PresentationFormat>Widescreen</PresentationFormat>
  <Paragraphs>133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Chiron Hei HK Medium</vt:lpstr>
      <vt:lpstr>Noto Sans TC Medium</vt:lpstr>
      <vt:lpstr>Noto Sans TC</vt:lpstr>
      <vt:lpstr>Chiron Hei HK Bold</vt:lpstr>
      <vt:lpstr>Noto Sans TC SemiBold</vt:lpstr>
      <vt:lpstr>Arial</vt:lpstr>
      <vt:lpstr>Chiron Hei HK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OMEN</dc:creator>
  <cp:lastModifiedBy>Suhan Noorani</cp:lastModifiedBy>
  <cp:revision>2</cp:revision>
  <dcterms:created xsi:type="dcterms:W3CDTF">2026-10-18T06:05:16Z</dcterms:created>
  <dcterms:modified xsi:type="dcterms:W3CDTF">2026-10-18T06:12:15Z</dcterms:modified>
</cp:coreProperties>
</file>